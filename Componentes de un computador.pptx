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image" Target="../media/image9.jpe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9656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19069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302904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40C5880-BC63-4293-9DBD-BACBE3E3A796}" type="datetimeFigureOut">
              <a:rPr lang="es-ES" smtClean="0"/>
              <a:t>23/02/2025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3765110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40C5880-BC63-4293-9DBD-BACBE3E3A796}" type="datetimeFigureOut">
              <a:rPr lang="es-ES" smtClean="0"/>
              <a:t>23/02/2025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2022074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40C5880-BC63-4293-9DBD-BACBE3E3A796}" type="datetimeFigureOut">
              <a:rPr lang="es-ES" smtClean="0"/>
              <a:t>23/02/2025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3536607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0C5880-BC63-4293-9DBD-BACBE3E3A796}" type="datetimeFigureOut">
              <a:rPr lang="es-ES" smtClean="0"/>
              <a:t>23/02/2025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1320915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40C5880-BC63-4293-9DBD-BACBE3E3A796}" type="datetimeFigureOut">
              <a:rPr lang="es-ES" smtClean="0"/>
              <a:t>23/02/2025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4248727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40C5880-BC63-4293-9DBD-BACBE3E3A796}" type="datetimeFigureOut">
              <a:rPr lang="es-ES" smtClean="0"/>
              <a:t>23/02/2025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1292776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40C5880-BC63-4293-9DBD-BACBE3E3A796}" type="datetimeFigureOut">
              <a:rPr lang="es-ES" smtClean="0"/>
              <a:t>23/02/2025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29929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3835169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37186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89319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20431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4283639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879302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40C5880-BC63-4293-9DBD-BACBE3E3A796}" type="datetimeFigureOut">
              <a:rPr lang="es-ES" smtClean="0"/>
              <a:t>23/02/2025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4920E5-EBFC-4A12-94B2-D50331F3FA39}" type="slidenum">
              <a:rPr lang="es-ES" smtClean="0"/>
              <a:t>‹Nº›</a:t>
            </a:fld>
            <a:endParaRPr lang="es-ES"/>
          </a:p>
        </p:txBody>
      </p:sp>
    </p:spTree>
    <p:extLst>
      <p:ext uri="{BB962C8B-B14F-4D97-AF65-F5344CB8AC3E}">
        <p14:creationId xmlns:p14="http://schemas.microsoft.com/office/powerpoint/2010/main" val="834453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340C5880-BC63-4293-9DBD-BACBE3E3A796}" type="datetimeFigureOut">
              <a:rPr lang="es-ES" smtClean="0"/>
              <a:t>23/02/2025</a:t>
            </a:fld>
            <a:endParaRPr lang="es-E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E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554920E5-EBFC-4A12-94B2-D50331F3FA39}" type="slidenum">
              <a:rPr lang="es-ES" smtClean="0"/>
              <a:t>‹Nº›</a:t>
            </a:fld>
            <a:endParaRPr lang="es-ES"/>
          </a:p>
        </p:txBody>
      </p:sp>
    </p:spTree>
    <p:extLst>
      <p:ext uri="{BB962C8B-B14F-4D97-AF65-F5344CB8AC3E}">
        <p14:creationId xmlns:p14="http://schemas.microsoft.com/office/powerpoint/2010/main" val="42923710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2.xml"/><Relationship Id="rId7" Type="http://schemas.openxmlformats.org/officeDocument/2006/relationships/slide" Target="slide6.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 Target="slide5.xml"/><Relationship Id="rId5" Type="http://schemas.openxmlformats.org/officeDocument/2006/relationships/slide" Target="slide3.xml"/><Relationship Id="rId4" Type="http://schemas.openxmlformats.org/officeDocument/2006/relationships/slide" Target="slide4.xml"/><Relationship Id="rId9" Type="http://schemas.openxmlformats.org/officeDocument/2006/relationships/slide" Target="slide8.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9.jpeg"/><Relationship Id="rId11" Type="http://schemas.openxmlformats.org/officeDocument/2006/relationships/image" Target="../media/image3.png"/><Relationship Id="rId5" Type="http://schemas.openxmlformats.org/officeDocument/2006/relationships/image" Target="../media/image18.jpeg"/><Relationship Id="rId10" Type="http://schemas.openxmlformats.org/officeDocument/2006/relationships/slide" Target="slide1.xml"/><Relationship Id="rId4" Type="http://schemas.openxmlformats.org/officeDocument/2006/relationships/image" Target="../media/image17.jpe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EEC4CC-D32A-4A0A-B0BB-9D385863407F}"/>
              </a:ext>
            </a:extLst>
          </p:cNvPr>
          <p:cNvSpPr>
            <a:spLocks noGrp="1"/>
          </p:cNvSpPr>
          <p:nvPr>
            <p:ph type="ctrTitle"/>
          </p:nvPr>
        </p:nvSpPr>
        <p:spPr>
          <a:xfrm>
            <a:off x="634206" y="1313655"/>
            <a:ext cx="10923588" cy="1473200"/>
          </a:xfrm>
        </p:spPr>
        <p:txBody>
          <a:bodyPr>
            <a:normAutofit/>
          </a:bodyPr>
          <a:lstStyle/>
          <a:p>
            <a:pPr algn="ctr"/>
            <a:r>
              <a:rPr lang="es-MX" sz="4000" dirty="0">
                <a:latin typeface="Arial Rounded MT Bold" panose="020F0704030504030204" pitchFamily="34" charset="0"/>
              </a:rPr>
              <a:t>Componentes de un computador</a:t>
            </a:r>
            <a:endParaRPr lang="es-ES" sz="4000" dirty="0">
              <a:latin typeface="Arial Rounded MT Bold" panose="020F0704030504030204" pitchFamily="34" charset="0"/>
            </a:endParaRPr>
          </a:p>
        </p:txBody>
      </p:sp>
      <p:pic>
        <p:nvPicPr>
          <p:cNvPr id="15" name="Picture 4" descr="Ordenador de escritorio de dibujos animados Vector de stock #5423890 de  ©clairev">
            <a:extLst>
              <a:ext uri="{FF2B5EF4-FFF2-40B4-BE49-F238E27FC236}">
                <a16:creationId xmlns:a16="http://schemas.microsoft.com/office/drawing/2014/main" id="{66FC4F3E-C578-404D-AB4B-14A1FCD82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2383" y="29364"/>
            <a:ext cx="3695699" cy="202089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2150C504-1C1B-491D-8541-5A84E1497DCB}"/>
              </a:ext>
            </a:extLst>
          </p:cNvPr>
          <p:cNvSpPr txBox="1"/>
          <p:nvPr/>
        </p:nvSpPr>
        <p:spPr>
          <a:xfrm>
            <a:off x="1326728" y="2786855"/>
            <a:ext cx="2765567" cy="1077218"/>
          </a:xfrm>
          <a:prstGeom prst="rect">
            <a:avLst/>
          </a:prstGeom>
          <a:noFill/>
        </p:spPr>
        <p:txBody>
          <a:bodyPr wrap="square" rtlCol="0">
            <a:spAutoFit/>
          </a:bodyPr>
          <a:lstStyle/>
          <a:p>
            <a:r>
              <a:rPr lang="es-MX" sz="3200" dirty="0">
                <a:hlinkClick r:id="rId3" action="ppaction://hlinksldjump"/>
              </a:rPr>
              <a:t>Memoria RAM</a:t>
            </a:r>
            <a:endParaRPr lang="es-ES" sz="3200" dirty="0"/>
          </a:p>
        </p:txBody>
      </p:sp>
      <p:sp>
        <p:nvSpPr>
          <p:cNvPr id="11" name="CuadroTexto 10">
            <a:extLst>
              <a:ext uri="{FF2B5EF4-FFF2-40B4-BE49-F238E27FC236}">
                <a16:creationId xmlns:a16="http://schemas.microsoft.com/office/drawing/2014/main" id="{DF32178B-3B27-4CE4-8D67-1C702B846209}"/>
              </a:ext>
            </a:extLst>
          </p:cNvPr>
          <p:cNvSpPr txBox="1"/>
          <p:nvPr/>
        </p:nvSpPr>
        <p:spPr>
          <a:xfrm>
            <a:off x="8531604" y="2786855"/>
            <a:ext cx="2556407" cy="1077218"/>
          </a:xfrm>
          <a:prstGeom prst="rect">
            <a:avLst/>
          </a:prstGeom>
          <a:noFill/>
        </p:spPr>
        <p:txBody>
          <a:bodyPr wrap="square" rtlCol="0">
            <a:spAutoFit/>
          </a:bodyPr>
          <a:lstStyle/>
          <a:p>
            <a:r>
              <a:rPr lang="es-MX" sz="3200" dirty="0">
                <a:hlinkClick r:id="rId4" action="ppaction://hlinksldjump"/>
              </a:rPr>
              <a:t>Tarjeta Madre </a:t>
            </a:r>
            <a:endParaRPr lang="es-ES" sz="3200" dirty="0"/>
          </a:p>
        </p:txBody>
      </p:sp>
      <p:sp>
        <p:nvSpPr>
          <p:cNvPr id="16" name="CuadroTexto 15">
            <a:extLst>
              <a:ext uri="{FF2B5EF4-FFF2-40B4-BE49-F238E27FC236}">
                <a16:creationId xmlns:a16="http://schemas.microsoft.com/office/drawing/2014/main" id="{C267940C-7AB9-4ED9-90C8-62D6CF39AEB8}"/>
              </a:ext>
            </a:extLst>
          </p:cNvPr>
          <p:cNvSpPr txBox="1"/>
          <p:nvPr/>
        </p:nvSpPr>
        <p:spPr>
          <a:xfrm>
            <a:off x="4846332" y="2786855"/>
            <a:ext cx="2765567" cy="1077218"/>
          </a:xfrm>
          <a:prstGeom prst="rect">
            <a:avLst/>
          </a:prstGeom>
          <a:noFill/>
        </p:spPr>
        <p:txBody>
          <a:bodyPr wrap="square" rtlCol="0">
            <a:spAutoFit/>
          </a:bodyPr>
          <a:lstStyle/>
          <a:p>
            <a:r>
              <a:rPr lang="es-MX" sz="3200" dirty="0">
                <a:hlinkClick r:id="rId5" action="ppaction://hlinksldjump"/>
              </a:rPr>
              <a:t>Procesador (CPU)</a:t>
            </a:r>
            <a:endParaRPr lang="es-ES" sz="3200" dirty="0"/>
          </a:p>
        </p:txBody>
      </p:sp>
      <p:sp>
        <p:nvSpPr>
          <p:cNvPr id="17" name="CuadroTexto 16">
            <a:extLst>
              <a:ext uri="{FF2B5EF4-FFF2-40B4-BE49-F238E27FC236}">
                <a16:creationId xmlns:a16="http://schemas.microsoft.com/office/drawing/2014/main" id="{4CB5E502-882F-4B5C-B9CF-575AD36203F5}"/>
              </a:ext>
            </a:extLst>
          </p:cNvPr>
          <p:cNvSpPr txBox="1"/>
          <p:nvPr/>
        </p:nvSpPr>
        <p:spPr>
          <a:xfrm>
            <a:off x="1199361" y="4071146"/>
            <a:ext cx="2892934" cy="830997"/>
          </a:xfrm>
          <a:prstGeom prst="rect">
            <a:avLst/>
          </a:prstGeom>
          <a:noFill/>
        </p:spPr>
        <p:txBody>
          <a:bodyPr wrap="square" rtlCol="0">
            <a:spAutoFit/>
          </a:bodyPr>
          <a:lstStyle/>
          <a:p>
            <a:r>
              <a:rPr lang="es-MX" sz="2400" dirty="0">
                <a:hlinkClick r:id="rId6" action="ppaction://hlinksldjump"/>
              </a:rPr>
              <a:t>Dispositivos de almacenamiento</a:t>
            </a:r>
            <a:endParaRPr lang="es-ES" sz="2400" dirty="0"/>
          </a:p>
        </p:txBody>
      </p:sp>
      <p:sp>
        <p:nvSpPr>
          <p:cNvPr id="18" name="CuadroTexto 17">
            <a:extLst>
              <a:ext uri="{FF2B5EF4-FFF2-40B4-BE49-F238E27FC236}">
                <a16:creationId xmlns:a16="http://schemas.microsoft.com/office/drawing/2014/main" id="{70FB204F-523A-4D41-B647-DFE4D2A0DF93}"/>
              </a:ext>
            </a:extLst>
          </p:cNvPr>
          <p:cNvSpPr txBox="1"/>
          <p:nvPr/>
        </p:nvSpPr>
        <p:spPr>
          <a:xfrm>
            <a:off x="4846332" y="3864073"/>
            <a:ext cx="2670204" cy="1077218"/>
          </a:xfrm>
          <a:prstGeom prst="rect">
            <a:avLst/>
          </a:prstGeom>
          <a:noFill/>
        </p:spPr>
        <p:txBody>
          <a:bodyPr wrap="square" rtlCol="0">
            <a:spAutoFit/>
          </a:bodyPr>
          <a:lstStyle/>
          <a:p>
            <a:r>
              <a:rPr lang="es-MX" sz="3200" dirty="0">
                <a:hlinkClick r:id="rId7" action="ppaction://hlinksldjump"/>
              </a:rPr>
              <a:t>Placa de video</a:t>
            </a:r>
            <a:endParaRPr lang="es-ES" sz="3200" dirty="0"/>
          </a:p>
        </p:txBody>
      </p:sp>
      <p:sp>
        <p:nvSpPr>
          <p:cNvPr id="19" name="CuadroTexto 18">
            <a:extLst>
              <a:ext uri="{FF2B5EF4-FFF2-40B4-BE49-F238E27FC236}">
                <a16:creationId xmlns:a16="http://schemas.microsoft.com/office/drawing/2014/main" id="{EC070713-F556-491B-99F4-189B8F560A7F}"/>
              </a:ext>
            </a:extLst>
          </p:cNvPr>
          <p:cNvSpPr txBox="1"/>
          <p:nvPr/>
        </p:nvSpPr>
        <p:spPr>
          <a:xfrm>
            <a:off x="8531604" y="3864073"/>
            <a:ext cx="2556407" cy="1077218"/>
          </a:xfrm>
          <a:prstGeom prst="rect">
            <a:avLst/>
          </a:prstGeom>
          <a:noFill/>
        </p:spPr>
        <p:txBody>
          <a:bodyPr wrap="square" rtlCol="0">
            <a:spAutoFit/>
          </a:bodyPr>
          <a:lstStyle/>
          <a:p>
            <a:r>
              <a:rPr lang="es-MX" sz="3200" dirty="0">
                <a:hlinkClick r:id="rId8" action="ppaction://hlinksldjump"/>
              </a:rPr>
              <a:t>Fuente de poder</a:t>
            </a:r>
            <a:endParaRPr lang="es-ES" sz="3200" dirty="0"/>
          </a:p>
        </p:txBody>
      </p:sp>
      <p:sp>
        <p:nvSpPr>
          <p:cNvPr id="20" name="CuadroTexto 19">
            <a:extLst>
              <a:ext uri="{FF2B5EF4-FFF2-40B4-BE49-F238E27FC236}">
                <a16:creationId xmlns:a16="http://schemas.microsoft.com/office/drawing/2014/main" id="{E3C33E25-3800-4F6A-9644-A5C4075B64F5}"/>
              </a:ext>
            </a:extLst>
          </p:cNvPr>
          <p:cNvSpPr txBox="1"/>
          <p:nvPr/>
        </p:nvSpPr>
        <p:spPr>
          <a:xfrm>
            <a:off x="3330429" y="5167618"/>
            <a:ext cx="5746459" cy="954107"/>
          </a:xfrm>
          <a:prstGeom prst="rect">
            <a:avLst/>
          </a:prstGeom>
          <a:noFill/>
        </p:spPr>
        <p:txBody>
          <a:bodyPr wrap="square" rtlCol="0">
            <a:spAutoFit/>
          </a:bodyPr>
          <a:lstStyle/>
          <a:p>
            <a:pPr algn="ctr"/>
            <a:r>
              <a:rPr lang="es-MX" sz="2800" dirty="0">
                <a:hlinkClick r:id="rId9" action="ppaction://hlinksldjump"/>
              </a:rPr>
              <a:t>Ejemplo de diagnostico / Identificado de componentes</a:t>
            </a:r>
            <a:endParaRPr lang="es-ES" sz="2800" dirty="0"/>
          </a:p>
        </p:txBody>
      </p:sp>
    </p:spTree>
    <p:extLst>
      <p:ext uri="{BB962C8B-B14F-4D97-AF65-F5344CB8AC3E}">
        <p14:creationId xmlns:p14="http://schemas.microsoft.com/office/powerpoint/2010/main" val="19074889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randombar(horizontal)">
                                      <p:cBhvr>
                                        <p:cTn id="13" dur="500"/>
                                        <p:tgtEl>
                                          <p:spTgt spid="1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randombar(horizontal)">
                                      <p:cBhvr>
                                        <p:cTn id="16" dur="500"/>
                                        <p:tgtEl>
                                          <p:spTgt spid="16"/>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randombar(horizontal)">
                                      <p:cBhvr>
                                        <p:cTn id="19" dur="500"/>
                                        <p:tgtEl>
                                          <p:spTgt spid="11"/>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randombar(horizontal)">
                                      <p:cBhvr>
                                        <p:cTn id="22" dur="500"/>
                                        <p:tgtEl>
                                          <p:spTgt spid="17"/>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randombar(horizontal)">
                                      <p:cBhvr>
                                        <p:cTn id="25" dur="500"/>
                                        <p:tgtEl>
                                          <p:spTgt spid="18"/>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randombar(horizontal)">
                                      <p:cBhvr>
                                        <p:cTn id="28" dur="500"/>
                                        <p:tgtEl>
                                          <p:spTgt spid="19"/>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randombar(horizontal)">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P spid="16" grpId="0"/>
      <p:bldP spid="17" grpId="0"/>
      <p:bldP spid="18" grpId="0"/>
      <p:bldP spid="19"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06541-2CB7-4E98-9198-9DF47B2A3117}"/>
              </a:ext>
            </a:extLst>
          </p:cNvPr>
          <p:cNvSpPr>
            <a:spLocks noGrp="1"/>
          </p:cNvSpPr>
          <p:nvPr>
            <p:ph type="title"/>
          </p:nvPr>
        </p:nvSpPr>
        <p:spPr>
          <a:xfrm>
            <a:off x="558377" y="0"/>
            <a:ext cx="4181403" cy="1507067"/>
          </a:xfrm>
        </p:spPr>
        <p:txBody>
          <a:bodyPr/>
          <a:lstStyle/>
          <a:p>
            <a:r>
              <a:rPr lang="es-MX" dirty="0"/>
              <a:t>Memoria ram</a:t>
            </a:r>
            <a:endParaRPr lang="es-ES" dirty="0"/>
          </a:p>
        </p:txBody>
      </p:sp>
      <p:sp>
        <p:nvSpPr>
          <p:cNvPr id="3" name="Marcador de contenido 2">
            <a:extLst>
              <a:ext uri="{FF2B5EF4-FFF2-40B4-BE49-F238E27FC236}">
                <a16:creationId xmlns:a16="http://schemas.microsoft.com/office/drawing/2014/main" id="{96979357-96FC-4D24-9690-4C61A67893A0}"/>
              </a:ext>
            </a:extLst>
          </p:cNvPr>
          <p:cNvSpPr>
            <a:spLocks noGrp="1"/>
          </p:cNvSpPr>
          <p:nvPr>
            <p:ph idx="1"/>
          </p:nvPr>
        </p:nvSpPr>
        <p:spPr>
          <a:xfrm>
            <a:off x="1557556" y="2068352"/>
            <a:ext cx="9076888" cy="3615267"/>
          </a:xfrm>
        </p:spPr>
        <p:txBody>
          <a:bodyPr>
            <a:noAutofit/>
          </a:bodyPr>
          <a:lstStyle/>
          <a:p>
            <a:pPr marL="0" indent="0">
              <a:buNone/>
            </a:pPr>
            <a:r>
              <a:rPr lang="es-MX" sz="3600" b="0" i="0" dirty="0">
                <a:solidFill>
                  <a:srgbClr val="EEF0FF"/>
                </a:solidFill>
                <a:effectLst/>
                <a:latin typeface="Google Sans"/>
              </a:rPr>
              <a:t>La memoria RAM (Random Access Memory) es la memoria de un ordenador que almacena temporalmente los datos que los programas necesitan para funcionar. Es un tipo de memoria volátil, lo que significa que se borra cuando se apaga el sistema. </a:t>
            </a:r>
            <a:endParaRPr lang="es-ES" sz="3600" dirty="0"/>
          </a:p>
        </p:txBody>
      </p:sp>
      <p:pic>
        <p:nvPicPr>
          <p:cNvPr id="2052" name="Picture 4" descr="Memoria RAM para IBM System x3500 M5 / 32GB 2666Mhz | 2204 - Modulo de Memoria  RAM 32GB, DDR4 2666MT/s ECC Registered DIMM CL19 2RX4 1.2V 288-pin 8Gbit  Kingston KTL-TS426/32G">
            <a:extLst>
              <a:ext uri="{FF2B5EF4-FFF2-40B4-BE49-F238E27FC236}">
                <a16:creationId xmlns:a16="http://schemas.microsoft.com/office/drawing/2014/main" id="{301F3F31-0FDC-48F5-BDC1-0CD15559BB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9537" y="84337"/>
            <a:ext cx="3472124" cy="15430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54" name="Picture 6" descr="Flecha atrás - Iconos gratis de flechas">
            <a:hlinkClick r:id="rId3" action="ppaction://hlinksldjump"/>
            <a:extLst>
              <a:ext uri="{FF2B5EF4-FFF2-40B4-BE49-F238E27FC236}">
                <a16:creationId xmlns:a16="http://schemas.microsoft.com/office/drawing/2014/main" id="{2628FE14-9449-4190-8AB6-C0B841F10C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6875" y="84337"/>
            <a:ext cx="154305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58167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AEA6D3-B872-479F-BCAD-7C8C8F470C1B}"/>
              </a:ext>
            </a:extLst>
          </p:cNvPr>
          <p:cNvSpPr>
            <a:spLocks noGrp="1"/>
          </p:cNvSpPr>
          <p:nvPr>
            <p:ph type="title"/>
          </p:nvPr>
        </p:nvSpPr>
        <p:spPr>
          <a:xfrm>
            <a:off x="149224" y="41227"/>
            <a:ext cx="4810577" cy="1507067"/>
          </a:xfrm>
        </p:spPr>
        <p:txBody>
          <a:bodyPr/>
          <a:lstStyle/>
          <a:p>
            <a:r>
              <a:rPr lang="es-MX" dirty="0"/>
              <a:t>Procesador (CPU)</a:t>
            </a:r>
            <a:endParaRPr lang="es-ES" dirty="0"/>
          </a:p>
        </p:txBody>
      </p:sp>
      <p:sp>
        <p:nvSpPr>
          <p:cNvPr id="3" name="Marcador de contenido 2">
            <a:extLst>
              <a:ext uri="{FF2B5EF4-FFF2-40B4-BE49-F238E27FC236}">
                <a16:creationId xmlns:a16="http://schemas.microsoft.com/office/drawing/2014/main" id="{188C0881-046D-4738-BAD7-5C27954C63B0}"/>
              </a:ext>
            </a:extLst>
          </p:cNvPr>
          <p:cNvSpPr>
            <a:spLocks noGrp="1"/>
          </p:cNvSpPr>
          <p:nvPr>
            <p:ph idx="1"/>
          </p:nvPr>
        </p:nvSpPr>
        <p:spPr>
          <a:xfrm>
            <a:off x="1338553" y="1612977"/>
            <a:ext cx="9097351" cy="4175427"/>
          </a:xfrm>
        </p:spPr>
        <p:txBody>
          <a:bodyPr>
            <a:normAutofit/>
          </a:bodyPr>
          <a:lstStyle/>
          <a:p>
            <a:pPr marL="0" indent="0">
              <a:buNone/>
            </a:pPr>
            <a:r>
              <a:rPr lang="es-MX" sz="3600" b="0" i="0" dirty="0">
                <a:solidFill>
                  <a:srgbClr val="EEF0FF"/>
                </a:solidFill>
                <a:effectLst/>
                <a:latin typeface="Google Sans"/>
              </a:rPr>
              <a:t>La unidad central de procesamiento (CPU) es un componente de hardware que se encarga de procesar las instrucciones de un dispositivo. Es el cerebro de la computadora y se encuentra en ordenadores, teléfonos inteligentes y otros dispositivos programables.</a:t>
            </a:r>
            <a:endParaRPr lang="es-ES" sz="3600" dirty="0"/>
          </a:p>
        </p:txBody>
      </p:sp>
      <p:pic>
        <p:nvPicPr>
          <p:cNvPr id="3074" name="Picture 2" descr="Cuál es el mejor procesador de Intel para estudiantes? | Código Espagueti">
            <a:extLst>
              <a:ext uri="{FF2B5EF4-FFF2-40B4-BE49-F238E27FC236}">
                <a16:creationId xmlns:a16="http://schemas.microsoft.com/office/drawing/2014/main" id="{C54D6715-581F-4918-B46A-BF2B6C6BA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7228" y="119640"/>
            <a:ext cx="2594993" cy="145968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5" name="Picture 6" descr="Flecha atrás - Iconos gratis de flechas">
            <a:hlinkClick r:id="rId3" action="ppaction://hlinksldjump"/>
            <a:extLst>
              <a:ext uri="{FF2B5EF4-FFF2-40B4-BE49-F238E27FC236}">
                <a16:creationId xmlns:a16="http://schemas.microsoft.com/office/drawing/2014/main" id="{28DC7E71-9DBD-4175-9BC8-467886A54C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1922" y="85986"/>
            <a:ext cx="154305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3763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0594A-4FE3-4B39-B49E-B57B3344540D}"/>
              </a:ext>
            </a:extLst>
          </p:cNvPr>
          <p:cNvSpPr>
            <a:spLocks noGrp="1"/>
          </p:cNvSpPr>
          <p:nvPr>
            <p:ph type="title"/>
          </p:nvPr>
        </p:nvSpPr>
        <p:spPr>
          <a:xfrm>
            <a:off x="415764" y="0"/>
            <a:ext cx="3912955" cy="1507067"/>
          </a:xfrm>
        </p:spPr>
        <p:txBody>
          <a:bodyPr/>
          <a:lstStyle/>
          <a:p>
            <a:r>
              <a:rPr lang="es-MX" dirty="0"/>
              <a:t>Tarjeta madre</a:t>
            </a:r>
            <a:endParaRPr lang="es-ES" dirty="0"/>
          </a:p>
        </p:txBody>
      </p:sp>
      <p:pic>
        <p:nvPicPr>
          <p:cNvPr id="4" name="Picture 6" descr="Flecha atrás - Iconos gratis de flechas">
            <a:hlinkClick r:id="rId2" action="ppaction://hlinksldjump"/>
            <a:extLst>
              <a:ext uri="{FF2B5EF4-FFF2-40B4-BE49-F238E27FC236}">
                <a16:creationId xmlns:a16="http://schemas.microsoft.com/office/drawing/2014/main" id="{B82CCD9E-9C7A-49C6-B689-A07722A893F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897182" y="0"/>
            <a:ext cx="1708340" cy="170834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49E61916-DFD7-4772-8AF8-68BFE9F43624}"/>
              </a:ext>
            </a:extLst>
          </p:cNvPr>
          <p:cNvSpPr txBox="1"/>
          <p:nvPr/>
        </p:nvSpPr>
        <p:spPr>
          <a:xfrm>
            <a:off x="1585519" y="1929468"/>
            <a:ext cx="9362114" cy="3416320"/>
          </a:xfrm>
          <a:prstGeom prst="rect">
            <a:avLst/>
          </a:prstGeom>
          <a:noFill/>
        </p:spPr>
        <p:txBody>
          <a:bodyPr wrap="square" rtlCol="0">
            <a:spAutoFit/>
          </a:bodyPr>
          <a:lstStyle/>
          <a:p>
            <a:r>
              <a:rPr lang="es-MX" sz="3600" dirty="0">
                <a:latin typeface="Google Sans"/>
              </a:rPr>
              <a:t>La placa base, también conocida como tarjeta madre, placa madre o placa principal (motherboard o mainboard en inglés), es una tarjeta de circuito impreso a la que se conectan los componentes que constituyen la computadora.</a:t>
            </a:r>
            <a:endParaRPr lang="es-ES" sz="3600" dirty="0">
              <a:latin typeface="Google Sans"/>
            </a:endParaRPr>
          </a:p>
        </p:txBody>
      </p:sp>
      <p:pic>
        <p:nvPicPr>
          <p:cNvPr id="4100" name="Picture 4" descr="Qué es la Tarjeta Madre de una Computadora?">
            <a:extLst>
              <a:ext uri="{FF2B5EF4-FFF2-40B4-BE49-F238E27FC236}">
                <a16:creationId xmlns:a16="http://schemas.microsoft.com/office/drawing/2014/main" id="{D7C1098E-0681-4BF8-897A-39ABE2FAB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8562" y="123719"/>
            <a:ext cx="3269821" cy="170834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70029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3196F-2501-4ACF-89CB-57A2649D3939}"/>
              </a:ext>
            </a:extLst>
          </p:cNvPr>
          <p:cNvSpPr>
            <a:spLocks noGrp="1"/>
          </p:cNvSpPr>
          <p:nvPr>
            <p:ph type="title"/>
          </p:nvPr>
        </p:nvSpPr>
        <p:spPr>
          <a:xfrm>
            <a:off x="762086" y="304571"/>
            <a:ext cx="6052148" cy="1507067"/>
          </a:xfrm>
        </p:spPr>
        <p:txBody>
          <a:bodyPr>
            <a:normAutofit/>
          </a:bodyPr>
          <a:lstStyle/>
          <a:p>
            <a:r>
              <a:rPr lang="es-MX" sz="2800" dirty="0"/>
              <a:t>Dispositivos de almacenamiento</a:t>
            </a:r>
            <a:endParaRPr lang="es-ES" sz="2800" dirty="0"/>
          </a:p>
        </p:txBody>
      </p:sp>
      <p:sp>
        <p:nvSpPr>
          <p:cNvPr id="3" name="Marcador de contenido 2">
            <a:extLst>
              <a:ext uri="{FF2B5EF4-FFF2-40B4-BE49-F238E27FC236}">
                <a16:creationId xmlns:a16="http://schemas.microsoft.com/office/drawing/2014/main" id="{4D9E0677-9618-4DD6-AB94-8E4896079A19}"/>
              </a:ext>
            </a:extLst>
          </p:cNvPr>
          <p:cNvSpPr>
            <a:spLocks noGrp="1"/>
          </p:cNvSpPr>
          <p:nvPr>
            <p:ph idx="1"/>
          </p:nvPr>
        </p:nvSpPr>
        <p:spPr>
          <a:xfrm>
            <a:off x="1174458" y="2116209"/>
            <a:ext cx="8534400" cy="3615267"/>
          </a:xfrm>
        </p:spPr>
        <p:txBody>
          <a:bodyPr>
            <a:normAutofit/>
          </a:bodyPr>
          <a:lstStyle/>
          <a:p>
            <a:pPr marL="0" indent="0">
              <a:buNone/>
            </a:pPr>
            <a:r>
              <a:rPr lang="es-MX" sz="3200" b="0" i="0" dirty="0">
                <a:solidFill>
                  <a:srgbClr val="EEF0FF"/>
                </a:solidFill>
                <a:effectLst/>
                <a:latin typeface="Google Sans"/>
              </a:rPr>
              <a:t>Los dispositivos de almacenamiento de una computadora son componentes electrónicos que guardan y recuperan información. Entre ellos, se encuentran los discos duros, las memorias flash, los discos compactos y los </a:t>
            </a:r>
            <a:r>
              <a:rPr lang="es-MX" sz="3200" b="0" i="0" dirty="0" err="1">
                <a:solidFill>
                  <a:srgbClr val="EEF0FF"/>
                </a:solidFill>
                <a:effectLst/>
                <a:latin typeface="Google Sans"/>
              </a:rPr>
              <a:t>DVDs</a:t>
            </a:r>
            <a:endParaRPr lang="es-ES" sz="3200" dirty="0"/>
          </a:p>
        </p:txBody>
      </p:sp>
      <p:pic>
        <p:nvPicPr>
          <p:cNvPr id="5122" name="Picture 2" descr="Dispositivos de almacenamiento">
            <a:extLst>
              <a:ext uri="{FF2B5EF4-FFF2-40B4-BE49-F238E27FC236}">
                <a16:creationId xmlns:a16="http://schemas.microsoft.com/office/drawing/2014/main" id="{6D6CD70F-962C-4CEC-B1BB-2539DF7A0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0469" y="0"/>
            <a:ext cx="3507530" cy="211621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5" name="Picture 6" descr="Flecha atrás - Iconos gratis de flechas">
            <a:hlinkClick r:id="rId3" action="ppaction://hlinksldjump"/>
            <a:extLst>
              <a:ext uri="{FF2B5EF4-FFF2-40B4-BE49-F238E27FC236}">
                <a16:creationId xmlns:a16="http://schemas.microsoft.com/office/drawing/2014/main" id="{AEDFC239-8E18-442B-B4A1-7F17522D0F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8782" y="0"/>
            <a:ext cx="1708340" cy="1708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7309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7606D-68EF-44F9-AD43-B6806A87EF0D}"/>
              </a:ext>
            </a:extLst>
          </p:cNvPr>
          <p:cNvSpPr>
            <a:spLocks noGrp="1"/>
          </p:cNvSpPr>
          <p:nvPr>
            <p:ph type="title"/>
          </p:nvPr>
        </p:nvSpPr>
        <p:spPr>
          <a:xfrm>
            <a:off x="398986" y="296663"/>
            <a:ext cx="4441461" cy="1507067"/>
          </a:xfrm>
        </p:spPr>
        <p:txBody>
          <a:bodyPr/>
          <a:lstStyle/>
          <a:p>
            <a:r>
              <a:rPr lang="es-MX" dirty="0"/>
              <a:t>Placa de video</a:t>
            </a:r>
            <a:endParaRPr lang="es-ES" dirty="0"/>
          </a:p>
        </p:txBody>
      </p:sp>
      <p:sp>
        <p:nvSpPr>
          <p:cNvPr id="3" name="Marcador de contenido 2">
            <a:extLst>
              <a:ext uri="{FF2B5EF4-FFF2-40B4-BE49-F238E27FC236}">
                <a16:creationId xmlns:a16="http://schemas.microsoft.com/office/drawing/2014/main" id="{BA5BF4AD-AC5E-4ACF-97EE-A1FE56B3F602}"/>
              </a:ext>
            </a:extLst>
          </p:cNvPr>
          <p:cNvSpPr>
            <a:spLocks noGrp="1"/>
          </p:cNvSpPr>
          <p:nvPr>
            <p:ph idx="1"/>
          </p:nvPr>
        </p:nvSpPr>
        <p:spPr>
          <a:xfrm>
            <a:off x="818435" y="1986094"/>
            <a:ext cx="8534400" cy="3615267"/>
          </a:xfrm>
        </p:spPr>
        <p:txBody>
          <a:bodyPr>
            <a:normAutofit/>
          </a:bodyPr>
          <a:lstStyle/>
          <a:p>
            <a:pPr marL="0" indent="0">
              <a:buNone/>
            </a:pPr>
            <a:r>
              <a:rPr lang="es-MX" sz="3600" b="0" i="0" dirty="0">
                <a:solidFill>
                  <a:srgbClr val="E8E8E8"/>
                </a:solidFill>
                <a:effectLst/>
                <a:latin typeface="Google Sans"/>
              </a:rPr>
              <a:t>Una tarjeta gráfica es una tarjeta de expansión de la computadora que contiene una unidad de procesamiento gráfico que procesa datos de salida gráfica a un dispositivo de visualización, como un monitor.</a:t>
            </a:r>
            <a:endParaRPr lang="es-ES" sz="3600" dirty="0"/>
          </a:p>
        </p:txBody>
      </p:sp>
      <p:pic>
        <p:nvPicPr>
          <p:cNvPr id="6148" name="Picture 4" descr="Guía de compra para GPU: ¿Cómo escoger la placa de video indicada? &lt; HP  TECH TAKES /... - HP.com Argentina">
            <a:extLst>
              <a:ext uri="{FF2B5EF4-FFF2-40B4-BE49-F238E27FC236}">
                <a16:creationId xmlns:a16="http://schemas.microsoft.com/office/drawing/2014/main" id="{7DA0425D-2F28-46F9-A880-CE3C0A5CA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473" y="335821"/>
            <a:ext cx="3190875" cy="14287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6" name="Picture 6" descr="Flecha atrás - Iconos gratis de flechas">
            <a:hlinkClick r:id="rId3" action="ppaction://hlinksldjump"/>
            <a:extLst>
              <a:ext uri="{FF2B5EF4-FFF2-40B4-BE49-F238E27FC236}">
                <a16:creationId xmlns:a16="http://schemas.microsoft.com/office/drawing/2014/main" id="{20F066E6-7B9C-4844-B177-D1D5BD6C9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97182" y="196026"/>
            <a:ext cx="1708340" cy="1708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385984"/>
      </p:ext>
    </p:extLst>
  </p:cSld>
  <p:clrMapOvr>
    <a:masterClrMapping/>
  </p:clrMapOvr>
  <p:transition spd="slow">
    <p:wheel spokes="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009CC5-9218-41DA-BDEB-435375074FAE}"/>
              </a:ext>
            </a:extLst>
          </p:cNvPr>
          <p:cNvSpPr>
            <a:spLocks noGrp="1"/>
          </p:cNvSpPr>
          <p:nvPr>
            <p:ph type="title"/>
          </p:nvPr>
        </p:nvSpPr>
        <p:spPr>
          <a:xfrm>
            <a:off x="306708" y="0"/>
            <a:ext cx="8534400" cy="1507067"/>
          </a:xfrm>
        </p:spPr>
        <p:txBody>
          <a:bodyPr/>
          <a:lstStyle/>
          <a:p>
            <a:r>
              <a:rPr lang="es-MX" dirty="0"/>
              <a:t>Fuente de poder</a:t>
            </a:r>
            <a:endParaRPr lang="es-ES" dirty="0"/>
          </a:p>
        </p:txBody>
      </p:sp>
      <p:sp>
        <p:nvSpPr>
          <p:cNvPr id="3" name="Marcador de contenido 2">
            <a:extLst>
              <a:ext uri="{FF2B5EF4-FFF2-40B4-BE49-F238E27FC236}">
                <a16:creationId xmlns:a16="http://schemas.microsoft.com/office/drawing/2014/main" id="{2664FB06-AF90-4CF0-AFE1-226577E60F28}"/>
              </a:ext>
            </a:extLst>
          </p:cNvPr>
          <p:cNvSpPr>
            <a:spLocks noGrp="1"/>
          </p:cNvSpPr>
          <p:nvPr>
            <p:ph idx="1"/>
          </p:nvPr>
        </p:nvSpPr>
        <p:spPr>
          <a:xfrm>
            <a:off x="633878" y="2036428"/>
            <a:ext cx="8534400" cy="3615267"/>
          </a:xfrm>
        </p:spPr>
        <p:txBody>
          <a:bodyPr>
            <a:normAutofit/>
          </a:bodyPr>
          <a:lstStyle/>
          <a:p>
            <a:pPr marL="0" indent="0">
              <a:buNone/>
            </a:pPr>
            <a:r>
              <a:rPr lang="es-MX" sz="3600" dirty="0">
                <a:solidFill>
                  <a:srgbClr val="E8E8E8"/>
                </a:solidFill>
                <a:latin typeface="Google Sans"/>
              </a:rPr>
              <a:t>L</a:t>
            </a:r>
            <a:r>
              <a:rPr lang="es-MX" sz="3600" b="0" i="0" dirty="0">
                <a:solidFill>
                  <a:srgbClr val="E8E8E8"/>
                </a:solidFill>
                <a:effectLst/>
                <a:latin typeface="Google Sans"/>
              </a:rPr>
              <a:t>a fuente de alimentación o fuente de potencia es el dispositivo que convierte la corriente alterna, en una o varias corrientes continuas, que alimentan los distintos circuitos del aparato electrónico al que se conecta.​</a:t>
            </a:r>
            <a:endParaRPr lang="es-ES" sz="3600" dirty="0"/>
          </a:p>
        </p:txBody>
      </p:sp>
      <p:pic>
        <p:nvPicPr>
          <p:cNvPr id="7172" name="Picture 4" descr="Reparación Fuentes de Poder">
            <a:extLst>
              <a:ext uri="{FF2B5EF4-FFF2-40B4-BE49-F238E27FC236}">
                <a16:creationId xmlns:a16="http://schemas.microsoft.com/office/drawing/2014/main" id="{16EE0FF1-8678-4674-9803-0F24A0942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5477" y="117446"/>
            <a:ext cx="2925851" cy="198498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8" name="Picture 6" descr="Flecha atrás - Iconos gratis de flechas">
            <a:hlinkClick r:id="rId3" action="ppaction://hlinksldjump"/>
            <a:extLst>
              <a:ext uri="{FF2B5EF4-FFF2-40B4-BE49-F238E27FC236}">
                <a16:creationId xmlns:a16="http://schemas.microsoft.com/office/drawing/2014/main" id="{B5F7F189-5703-4C6B-A6D5-3F21918E99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97182" y="51440"/>
            <a:ext cx="1708340" cy="1708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49241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180090-A884-4D00-A64F-AC6229D35AE4}"/>
              </a:ext>
            </a:extLst>
          </p:cNvPr>
          <p:cNvSpPr>
            <a:spLocks noGrp="1"/>
          </p:cNvSpPr>
          <p:nvPr>
            <p:ph type="title"/>
          </p:nvPr>
        </p:nvSpPr>
        <p:spPr>
          <a:xfrm>
            <a:off x="1178343" y="63259"/>
            <a:ext cx="7352441" cy="1507067"/>
          </a:xfrm>
        </p:spPr>
        <p:txBody>
          <a:bodyPr/>
          <a:lstStyle/>
          <a:p>
            <a:r>
              <a:rPr lang="es-MX" dirty="0"/>
              <a:t>Ejemplo diagnostico (tabla)</a:t>
            </a:r>
            <a:endParaRPr lang="es-ES" dirty="0"/>
          </a:p>
        </p:txBody>
      </p:sp>
      <p:graphicFrame>
        <p:nvGraphicFramePr>
          <p:cNvPr id="9" name="Tabla 8">
            <a:extLst>
              <a:ext uri="{FF2B5EF4-FFF2-40B4-BE49-F238E27FC236}">
                <a16:creationId xmlns:a16="http://schemas.microsoft.com/office/drawing/2014/main" id="{7265AA3B-D4B0-4E0E-BEEA-F7662955EF3A}"/>
              </a:ext>
            </a:extLst>
          </p:cNvPr>
          <p:cNvGraphicFramePr>
            <a:graphicFrameLocks noGrp="1"/>
          </p:cNvGraphicFramePr>
          <p:nvPr>
            <p:extLst>
              <p:ext uri="{D42A27DB-BD31-4B8C-83A1-F6EECF244321}">
                <p14:modId xmlns:p14="http://schemas.microsoft.com/office/powerpoint/2010/main" val="2882475254"/>
              </p:ext>
            </p:extLst>
          </p:nvPr>
        </p:nvGraphicFramePr>
        <p:xfrm>
          <a:off x="127000" y="1682276"/>
          <a:ext cx="6089242" cy="4600225"/>
        </p:xfrm>
        <a:graphic>
          <a:graphicData uri="http://schemas.openxmlformats.org/drawingml/2006/table">
            <a:tbl>
              <a:tblPr firstRow="1" firstCol="1" bandRow="1">
                <a:tableStyleId>{5C22544A-7EE6-4342-B048-85BDC9FD1C3A}</a:tableStyleId>
              </a:tblPr>
              <a:tblGrid>
                <a:gridCol w="854512">
                  <a:extLst>
                    <a:ext uri="{9D8B030D-6E8A-4147-A177-3AD203B41FA5}">
                      <a16:colId xmlns:a16="http://schemas.microsoft.com/office/drawing/2014/main" val="2353338866"/>
                    </a:ext>
                  </a:extLst>
                </a:gridCol>
                <a:gridCol w="822121">
                  <a:extLst>
                    <a:ext uri="{9D8B030D-6E8A-4147-A177-3AD203B41FA5}">
                      <a16:colId xmlns:a16="http://schemas.microsoft.com/office/drawing/2014/main" val="1521360151"/>
                    </a:ext>
                  </a:extLst>
                </a:gridCol>
                <a:gridCol w="667665">
                  <a:extLst>
                    <a:ext uri="{9D8B030D-6E8A-4147-A177-3AD203B41FA5}">
                      <a16:colId xmlns:a16="http://schemas.microsoft.com/office/drawing/2014/main" val="3513719359"/>
                    </a:ext>
                  </a:extLst>
                </a:gridCol>
                <a:gridCol w="926243">
                  <a:extLst>
                    <a:ext uri="{9D8B030D-6E8A-4147-A177-3AD203B41FA5}">
                      <a16:colId xmlns:a16="http://schemas.microsoft.com/office/drawing/2014/main" val="1638903695"/>
                    </a:ext>
                  </a:extLst>
                </a:gridCol>
                <a:gridCol w="2818701">
                  <a:extLst>
                    <a:ext uri="{9D8B030D-6E8A-4147-A177-3AD203B41FA5}">
                      <a16:colId xmlns:a16="http://schemas.microsoft.com/office/drawing/2014/main" val="1450945206"/>
                    </a:ext>
                  </a:extLst>
                </a:gridCol>
              </a:tblGrid>
              <a:tr h="264008">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Identificacion</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Estado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Observaciones</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Evidencia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577156603"/>
                  </a:ext>
                </a:extLst>
              </a:tr>
              <a:tr h="156151">
                <a:tc>
                  <a:txBody>
                    <a:bodyPr/>
                    <a:lstStyle/>
                    <a:p>
                      <a:pPr algn="l">
                        <a:lnSpc>
                          <a:spcPct val="107000"/>
                        </a:lnSpc>
                        <a:spcAft>
                          <a:spcPts val="800"/>
                        </a:spcAft>
                      </a:pPr>
                      <a:r>
                        <a:rPr lang="es-CO" sz="1200">
                          <a:effectLst/>
                        </a:rPr>
                        <a:t>Numero de serie</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9LC95LS#ABM</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Bueno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3812821846"/>
                  </a:ext>
                </a:extLst>
              </a:tr>
              <a:tr h="430723">
                <a:tc>
                  <a:txBody>
                    <a:bodyPr/>
                    <a:lstStyle/>
                    <a:p>
                      <a:pPr algn="l">
                        <a:lnSpc>
                          <a:spcPct val="107000"/>
                        </a:lnSpc>
                        <a:spcAft>
                          <a:spcPts val="800"/>
                        </a:spcAft>
                      </a:pPr>
                      <a:r>
                        <a:rPr lang="es-CO" sz="1200">
                          <a:effectLst/>
                        </a:rPr>
                        <a:t>Marca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HP</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Bueno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ctr">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463744778"/>
                  </a:ext>
                </a:extLst>
              </a:tr>
              <a:tr h="499119">
                <a:tc>
                  <a:txBody>
                    <a:bodyPr/>
                    <a:lstStyle/>
                    <a:p>
                      <a:pPr algn="l">
                        <a:lnSpc>
                          <a:spcPct val="107000"/>
                        </a:lnSpc>
                        <a:spcAft>
                          <a:spcPts val="800"/>
                        </a:spcAft>
                      </a:pPr>
                      <a:r>
                        <a:rPr lang="es-CO" sz="1200">
                          <a:effectLst/>
                        </a:rPr>
                        <a:t>Modelo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HP ProBook 445R G6</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Bueno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3056020471"/>
                  </a:ext>
                </a:extLst>
              </a:tr>
              <a:tr h="459551">
                <a:tc>
                  <a:txBody>
                    <a:bodyPr/>
                    <a:lstStyle/>
                    <a:p>
                      <a:pPr algn="l">
                        <a:lnSpc>
                          <a:spcPct val="107000"/>
                        </a:lnSpc>
                        <a:spcAft>
                          <a:spcPts val="800"/>
                        </a:spcAft>
                      </a:pPr>
                      <a:r>
                        <a:rPr lang="es-CO" sz="1200">
                          <a:effectLst/>
                        </a:rPr>
                        <a:t>Ultimo Mantenimiento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20/09/23</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Preventivo/ Optimo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N/A</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59943390"/>
                  </a:ext>
                </a:extLst>
              </a:tr>
              <a:tr h="955279">
                <a:tc>
                  <a:txBody>
                    <a:bodyPr/>
                    <a:lstStyle/>
                    <a:p>
                      <a:pPr algn="l">
                        <a:lnSpc>
                          <a:spcPct val="107000"/>
                        </a:lnSpc>
                        <a:spcAft>
                          <a:spcPts val="800"/>
                        </a:spcAft>
                      </a:pPr>
                      <a:r>
                        <a:rPr lang="es-CO" sz="1200">
                          <a:effectLst/>
                        </a:rPr>
                        <a:t>Estado físico </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Optimo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Optimo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866900326"/>
                  </a:ext>
                </a:extLst>
              </a:tr>
              <a:tr h="915711">
                <a:tc>
                  <a:txBody>
                    <a:bodyPr/>
                    <a:lstStyle/>
                    <a:p>
                      <a:pPr algn="l">
                        <a:lnSpc>
                          <a:spcPct val="107000"/>
                        </a:lnSpc>
                        <a:spcAft>
                          <a:spcPts val="800"/>
                        </a:spcAft>
                      </a:pPr>
                      <a:r>
                        <a:rPr lang="es-CO" sz="1200">
                          <a:effectLst/>
                        </a:rPr>
                        <a:t>Estado Operativo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Completo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Optimo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2047740864"/>
                  </a:ext>
                </a:extLst>
              </a:tr>
              <a:tr h="312303">
                <a:tc>
                  <a:txBody>
                    <a:bodyPr/>
                    <a:lstStyle/>
                    <a:p>
                      <a:pPr algn="l">
                        <a:lnSpc>
                          <a:spcPct val="107000"/>
                        </a:lnSpc>
                        <a:spcAft>
                          <a:spcPts val="800"/>
                        </a:spcAft>
                      </a:pPr>
                      <a:r>
                        <a:rPr lang="es-CO" sz="1200">
                          <a:effectLst/>
                        </a:rPr>
                        <a:t>Sistema Electrico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2,31 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Funcional</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ctr">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499751878"/>
                  </a:ext>
                </a:extLst>
              </a:tr>
            </a:tbl>
          </a:graphicData>
        </a:graphic>
      </p:graphicFrame>
      <p:pic>
        <p:nvPicPr>
          <p:cNvPr id="25" name="Imagen 24">
            <a:extLst>
              <a:ext uri="{FF2B5EF4-FFF2-40B4-BE49-F238E27FC236}">
                <a16:creationId xmlns:a16="http://schemas.microsoft.com/office/drawing/2014/main" id="{A39F49E5-8A4D-4351-A810-7E437205D7FB}"/>
              </a:ext>
            </a:extLst>
          </p:cNvPr>
          <p:cNvPicPr/>
          <p:nvPr/>
        </p:nvPicPr>
        <p:blipFill>
          <a:blip r:embed="rId3"/>
          <a:stretch>
            <a:fillRect/>
          </a:stretch>
        </p:blipFill>
        <p:spPr>
          <a:xfrm>
            <a:off x="3539258" y="2149340"/>
            <a:ext cx="2498434" cy="209550"/>
          </a:xfrm>
          <a:prstGeom prst="rect">
            <a:avLst/>
          </a:prstGeom>
        </p:spPr>
      </p:pic>
      <p:pic>
        <p:nvPicPr>
          <p:cNvPr id="8211" name="Picture 19" descr="HP centra la experiencia tecnológica del futuro del trabajo desde casa |  Silicon">
            <a:extLst>
              <a:ext uri="{FF2B5EF4-FFF2-40B4-BE49-F238E27FC236}">
                <a16:creationId xmlns:a16="http://schemas.microsoft.com/office/drawing/2014/main" id="{335F6244-443F-435C-85CF-0C41FABC32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7985" y="2429483"/>
            <a:ext cx="736579" cy="368378"/>
          </a:xfrm>
          <a:prstGeom prst="rect">
            <a:avLst/>
          </a:prstGeom>
          <a:noFill/>
          <a:extLst>
            <a:ext uri="{909E8E84-426E-40DD-AFC4-6F175D3DCCD1}">
              <a14:hiddenFill xmlns:a14="http://schemas.microsoft.com/office/drawing/2010/main">
                <a:solidFill>
                  <a:srgbClr val="FFFFFF"/>
                </a:solidFill>
              </a14:hiddenFill>
            </a:ext>
          </a:extLst>
        </p:spPr>
      </p:pic>
      <p:pic>
        <p:nvPicPr>
          <p:cNvPr id="8213" name="Picture 21" descr="PORTÁTIL HP PROBOOK 445R G6 – Planeta Computo">
            <a:extLst>
              <a:ext uri="{FF2B5EF4-FFF2-40B4-BE49-F238E27FC236}">
                <a16:creationId xmlns:a16="http://schemas.microsoft.com/office/drawing/2014/main" id="{7A684F5C-48E8-4B91-9916-9DB7B97D64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1458" y="2870623"/>
            <a:ext cx="1894034" cy="493305"/>
          </a:xfrm>
          <a:prstGeom prst="rect">
            <a:avLst/>
          </a:prstGeom>
          <a:noFill/>
          <a:extLst>
            <a:ext uri="{909E8E84-426E-40DD-AFC4-6F175D3DCCD1}">
              <a14:hiddenFill xmlns:a14="http://schemas.microsoft.com/office/drawing/2010/main">
                <a:solidFill>
                  <a:srgbClr val="FFFFFF"/>
                </a:solidFill>
              </a14:hiddenFill>
            </a:ext>
          </a:extLst>
        </p:spPr>
      </p:pic>
      <p:pic>
        <p:nvPicPr>
          <p:cNvPr id="8215" name="Picture 23" descr="Descripción no disponible.">
            <a:extLst>
              <a:ext uri="{FF2B5EF4-FFF2-40B4-BE49-F238E27FC236}">
                <a16:creationId xmlns:a16="http://schemas.microsoft.com/office/drawing/2014/main" id="{C34AC1A3-D0E0-4401-893B-7C486966FA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7882" y="3429000"/>
            <a:ext cx="1040404" cy="513399"/>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4C1E464A-874C-4EC2-A2AA-B8BB4E7800D0}"/>
              </a:ext>
            </a:extLst>
          </p:cNvPr>
          <p:cNvPicPr>
            <a:picLocks noChangeAspect="1"/>
          </p:cNvPicPr>
          <p:nvPr/>
        </p:nvPicPr>
        <p:blipFill>
          <a:blip r:embed="rId7"/>
          <a:stretch>
            <a:fillRect/>
          </a:stretch>
        </p:blipFill>
        <p:spPr>
          <a:xfrm>
            <a:off x="3591890" y="4007471"/>
            <a:ext cx="2393170" cy="822548"/>
          </a:xfrm>
          <a:prstGeom prst="rect">
            <a:avLst/>
          </a:prstGeom>
        </p:spPr>
      </p:pic>
      <p:pic>
        <p:nvPicPr>
          <p:cNvPr id="11" name="Imagen 10">
            <a:extLst>
              <a:ext uri="{FF2B5EF4-FFF2-40B4-BE49-F238E27FC236}">
                <a16:creationId xmlns:a16="http://schemas.microsoft.com/office/drawing/2014/main" id="{B6C467B8-15B8-4C1F-B65A-27732B8DF524}"/>
              </a:ext>
            </a:extLst>
          </p:cNvPr>
          <p:cNvPicPr>
            <a:picLocks noChangeAspect="1"/>
          </p:cNvPicPr>
          <p:nvPr/>
        </p:nvPicPr>
        <p:blipFill>
          <a:blip r:embed="rId8"/>
          <a:stretch>
            <a:fillRect/>
          </a:stretch>
        </p:blipFill>
        <p:spPr>
          <a:xfrm>
            <a:off x="3824916" y="5059050"/>
            <a:ext cx="1910576" cy="739871"/>
          </a:xfrm>
          <a:prstGeom prst="rect">
            <a:avLst/>
          </a:prstGeom>
        </p:spPr>
      </p:pic>
      <p:pic>
        <p:nvPicPr>
          <p:cNvPr id="12" name="Imagen 11">
            <a:extLst>
              <a:ext uri="{FF2B5EF4-FFF2-40B4-BE49-F238E27FC236}">
                <a16:creationId xmlns:a16="http://schemas.microsoft.com/office/drawing/2014/main" id="{030F66C2-C84B-4EC8-871A-E35FB309576F}"/>
              </a:ext>
            </a:extLst>
          </p:cNvPr>
          <p:cNvPicPr>
            <a:picLocks noChangeAspect="1"/>
          </p:cNvPicPr>
          <p:nvPr/>
        </p:nvPicPr>
        <p:blipFill>
          <a:blip r:embed="rId9"/>
          <a:stretch>
            <a:fillRect/>
          </a:stretch>
        </p:blipFill>
        <p:spPr>
          <a:xfrm>
            <a:off x="3939420" y="5943267"/>
            <a:ext cx="1617328" cy="302500"/>
          </a:xfrm>
          <a:prstGeom prst="rect">
            <a:avLst/>
          </a:prstGeom>
        </p:spPr>
      </p:pic>
      <p:graphicFrame>
        <p:nvGraphicFramePr>
          <p:cNvPr id="13" name="Tabla 12">
            <a:extLst>
              <a:ext uri="{FF2B5EF4-FFF2-40B4-BE49-F238E27FC236}">
                <a16:creationId xmlns:a16="http://schemas.microsoft.com/office/drawing/2014/main" id="{8A8EB6DD-A9C7-4534-90D4-383FB66157FB}"/>
              </a:ext>
            </a:extLst>
          </p:cNvPr>
          <p:cNvGraphicFramePr>
            <a:graphicFrameLocks noGrp="1"/>
          </p:cNvGraphicFramePr>
          <p:nvPr>
            <p:extLst>
              <p:ext uri="{D42A27DB-BD31-4B8C-83A1-F6EECF244321}">
                <p14:modId xmlns:p14="http://schemas.microsoft.com/office/powerpoint/2010/main" val="2505123594"/>
              </p:ext>
            </p:extLst>
          </p:nvPr>
        </p:nvGraphicFramePr>
        <p:xfrm>
          <a:off x="6394158" y="1657387"/>
          <a:ext cx="5493042" cy="4588379"/>
        </p:xfrm>
        <a:graphic>
          <a:graphicData uri="http://schemas.openxmlformats.org/drawingml/2006/table">
            <a:tbl>
              <a:tblPr firstRow="1" firstCol="1" bandRow="1">
                <a:tableStyleId>{5C22544A-7EE6-4342-B048-85BDC9FD1C3A}</a:tableStyleId>
              </a:tblPr>
              <a:tblGrid>
                <a:gridCol w="1610400">
                  <a:extLst>
                    <a:ext uri="{9D8B030D-6E8A-4147-A177-3AD203B41FA5}">
                      <a16:colId xmlns:a16="http://schemas.microsoft.com/office/drawing/2014/main" val="1380863469"/>
                    </a:ext>
                  </a:extLst>
                </a:gridCol>
                <a:gridCol w="1212585">
                  <a:extLst>
                    <a:ext uri="{9D8B030D-6E8A-4147-A177-3AD203B41FA5}">
                      <a16:colId xmlns:a16="http://schemas.microsoft.com/office/drawing/2014/main" val="557267078"/>
                    </a:ext>
                  </a:extLst>
                </a:gridCol>
                <a:gridCol w="1045569">
                  <a:extLst>
                    <a:ext uri="{9D8B030D-6E8A-4147-A177-3AD203B41FA5}">
                      <a16:colId xmlns:a16="http://schemas.microsoft.com/office/drawing/2014/main" val="2585370000"/>
                    </a:ext>
                  </a:extLst>
                </a:gridCol>
                <a:gridCol w="1624488">
                  <a:extLst>
                    <a:ext uri="{9D8B030D-6E8A-4147-A177-3AD203B41FA5}">
                      <a16:colId xmlns:a16="http://schemas.microsoft.com/office/drawing/2014/main" val="3740056833"/>
                    </a:ext>
                  </a:extLst>
                </a:gridCol>
              </a:tblGrid>
              <a:tr h="509578">
                <a:tc>
                  <a:txBody>
                    <a:bodyPr/>
                    <a:lstStyle/>
                    <a:p>
                      <a:pPr algn="l">
                        <a:lnSpc>
                          <a:spcPct val="107000"/>
                        </a:lnSpc>
                        <a:spcAft>
                          <a:spcPts val="800"/>
                        </a:spcAft>
                      </a:pPr>
                      <a:r>
                        <a:rPr lang="es-CO" sz="1200" dirty="0">
                          <a:effectLst/>
                        </a:rPr>
                        <a:t> </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Identificacion</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Estado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Observaciones</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3078532830"/>
                  </a:ext>
                </a:extLst>
              </a:tr>
              <a:tr h="509578">
                <a:tc>
                  <a:txBody>
                    <a:bodyPr/>
                    <a:lstStyle/>
                    <a:p>
                      <a:pPr algn="l">
                        <a:lnSpc>
                          <a:spcPct val="107000"/>
                        </a:lnSpc>
                        <a:spcAft>
                          <a:spcPts val="800"/>
                        </a:spcAft>
                      </a:pPr>
                      <a:r>
                        <a:rPr lang="es-CO" sz="1200">
                          <a:effectLst/>
                        </a:rPr>
                        <a:t>Numero de serie</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ES" sz="1200" dirty="0">
                          <a:effectLst/>
                          <a:latin typeface="Calibri" panose="020F0502020204030204" pitchFamily="34" charset="0"/>
                          <a:ea typeface="Calibri" panose="020F0502020204030204" pitchFamily="34" charset="0"/>
                          <a:cs typeface="Times New Roman" panose="02020603050405020304" pitchFamily="18" charset="0"/>
                        </a:rPr>
                        <a:t>CT16G4SFRA266</a:t>
                      </a: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Bueno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355976652"/>
                  </a:ext>
                </a:extLst>
              </a:tr>
              <a:tr h="336859">
                <a:tc>
                  <a:txBody>
                    <a:bodyPr/>
                    <a:lstStyle/>
                    <a:p>
                      <a:pPr algn="l">
                        <a:lnSpc>
                          <a:spcPct val="107000"/>
                        </a:lnSpc>
                        <a:spcAft>
                          <a:spcPts val="800"/>
                        </a:spcAft>
                      </a:pPr>
                      <a:r>
                        <a:rPr lang="es-CO" sz="1200">
                          <a:effectLst/>
                        </a:rPr>
                        <a:t>Marca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Crucial</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Bueno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078218462"/>
                  </a:ext>
                </a:extLst>
              </a:tr>
              <a:tr h="682521">
                <a:tc>
                  <a:txBody>
                    <a:bodyPr/>
                    <a:lstStyle/>
                    <a:p>
                      <a:pPr algn="l">
                        <a:lnSpc>
                          <a:spcPct val="107000"/>
                        </a:lnSpc>
                        <a:spcAft>
                          <a:spcPts val="800"/>
                        </a:spcAft>
                      </a:pPr>
                      <a:r>
                        <a:rPr lang="es-CO" sz="1200">
                          <a:effectLst/>
                        </a:rPr>
                        <a:t>Modelo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Crucial RAM</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Bueno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57454247"/>
                  </a:ext>
                </a:extLst>
              </a:tr>
              <a:tr h="682521">
                <a:tc>
                  <a:txBody>
                    <a:bodyPr/>
                    <a:lstStyle/>
                    <a:p>
                      <a:pPr algn="l">
                        <a:lnSpc>
                          <a:spcPct val="107000"/>
                        </a:lnSpc>
                        <a:spcAft>
                          <a:spcPts val="800"/>
                        </a:spcAft>
                      </a:pPr>
                      <a:r>
                        <a:rPr lang="es-CO" sz="1200" dirty="0">
                          <a:effectLst/>
                        </a:rPr>
                        <a:t>Ultimo Mantenimiento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N/A</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Optimo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102898609"/>
                  </a:ext>
                </a:extLst>
              </a:tr>
              <a:tr h="693228">
                <a:tc>
                  <a:txBody>
                    <a:bodyPr/>
                    <a:lstStyle/>
                    <a:p>
                      <a:pPr algn="l">
                        <a:lnSpc>
                          <a:spcPct val="107000"/>
                        </a:lnSpc>
                        <a:spcAft>
                          <a:spcPts val="800"/>
                        </a:spcAft>
                      </a:pPr>
                      <a:r>
                        <a:rPr lang="es-CO" sz="1200">
                          <a:effectLst/>
                        </a:rPr>
                        <a:t>Estado físico </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Optimo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Optimo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1843573281"/>
                  </a:ext>
                </a:extLst>
              </a:tr>
              <a:tr h="664516">
                <a:tc>
                  <a:txBody>
                    <a:bodyPr/>
                    <a:lstStyle/>
                    <a:p>
                      <a:pPr algn="l">
                        <a:lnSpc>
                          <a:spcPct val="107000"/>
                        </a:lnSpc>
                        <a:spcAft>
                          <a:spcPts val="800"/>
                        </a:spcAft>
                      </a:pPr>
                      <a:r>
                        <a:rPr lang="es-CO" sz="1200">
                          <a:effectLst/>
                        </a:rPr>
                        <a:t>Estado Operativo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Completo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Optimo</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a:effectLst/>
                        </a:rPr>
                        <a:t>N/A</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20573971"/>
                  </a:ext>
                </a:extLst>
              </a:tr>
              <a:tr h="509578">
                <a:tc>
                  <a:txBody>
                    <a:bodyPr/>
                    <a:lstStyle/>
                    <a:p>
                      <a:pPr algn="l">
                        <a:lnSpc>
                          <a:spcPct val="107000"/>
                        </a:lnSpc>
                        <a:spcAft>
                          <a:spcPts val="800"/>
                        </a:spcAft>
                      </a:pPr>
                      <a:r>
                        <a:rPr lang="es-CO" sz="1200">
                          <a:effectLst/>
                        </a:rPr>
                        <a:t>Sistema Electrico</a:t>
                      </a:r>
                      <a:endParaRPr lang="es-ES" sz="120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ES" sz="1200" dirty="0">
                          <a:effectLst/>
                          <a:latin typeface="Calibri" panose="020F0502020204030204" pitchFamily="34" charset="0"/>
                          <a:ea typeface="Calibri" panose="020F0502020204030204" pitchFamily="34" charset="0"/>
                          <a:cs typeface="Times New Roman" panose="02020603050405020304" pitchFamily="18" charset="0"/>
                        </a:rPr>
                        <a:t>2666MHz</a:t>
                      </a:r>
                    </a:p>
                  </a:txBody>
                  <a:tcPr marL="28626" marR="28626" marT="0" marB="0"/>
                </a:tc>
                <a:tc>
                  <a:txBody>
                    <a:bodyPr/>
                    <a:lstStyle/>
                    <a:p>
                      <a:pPr algn="l">
                        <a:lnSpc>
                          <a:spcPct val="107000"/>
                        </a:lnSpc>
                        <a:spcAft>
                          <a:spcPts val="800"/>
                        </a:spcAft>
                      </a:pPr>
                      <a:r>
                        <a:rPr lang="es-MX" sz="1200" dirty="0">
                          <a:effectLst/>
                          <a:latin typeface="Calibri" panose="020F0502020204030204" pitchFamily="34" charset="0"/>
                          <a:ea typeface="Calibri" panose="020F0502020204030204" pitchFamily="34" charset="0"/>
                          <a:cs typeface="Times New Roman" panose="02020603050405020304" pitchFamily="18" charset="0"/>
                        </a:rPr>
                        <a:t>Funcional</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tc>
                  <a:txBody>
                    <a:bodyPr/>
                    <a:lstStyle/>
                    <a:p>
                      <a:pPr algn="l">
                        <a:lnSpc>
                          <a:spcPct val="107000"/>
                        </a:lnSpc>
                        <a:spcAft>
                          <a:spcPts val="800"/>
                        </a:spcAft>
                      </a:pPr>
                      <a:r>
                        <a:rPr lang="es-CO" sz="1200" dirty="0">
                          <a:effectLst/>
                        </a:rPr>
                        <a:t>N/A</a:t>
                      </a:r>
                      <a:endParaRPr lang="es-E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28626" marR="28626" marT="0" marB="0"/>
                </a:tc>
                <a:extLst>
                  <a:ext uri="{0D108BD9-81ED-4DB2-BD59-A6C34878D82A}">
                    <a16:rowId xmlns:a16="http://schemas.microsoft.com/office/drawing/2014/main" val="4286413894"/>
                  </a:ext>
                </a:extLst>
              </a:tr>
            </a:tbl>
          </a:graphicData>
        </a:graphic>
      </p:graphicFrame>
      <p:sp>
        <p:nvSpPr>
          <p:cNvPr id="14" name="Rectangle 24">
            <a:extLst>
              <a:ext uri="{FF2B5EF4-FFF2-40B4-BE49-F238E27FC236}">
                <a16:creationId xmlns:a16="http://schemas.microsoft.com/office/drawing/2014/main" id="{B8DA2FB5-86BC-45F9-BDFC-D05929F3EEDA}"/>
              </a:ext>
            </a:extLst>
          </p:cNvPr>
          <p:cNvSpPr>
            <a:spLocks noChangeArrowheads="1"/>
          </p:cNvSpPr>
          <p:nvPr/>
        </p:nvSpPr>
        <p:spPr bwMode="auto">
          <a:xfrm>
            <a:off x="6977481" y="213102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pic>
        <p:nvPicPr>
          <p:cNvPr id="34" name="Picture 6" descr="Flecha atrás - Iconos gratis de flechas">
            <a:hlinkClick r:id="rId10" action="ppaction://hlinksldjump"/>
            <a:extLst>
              <a:ext uri="{FF2B5EF4-FFF2-40B4-BE49-F238E27FC236}">
                <a16:creationId xmlns:a16="http://schemas.microsoft.com/office/drawing/2014/main" id="{F6C5D271-DD8A-4E73-8276-7438DD6FFB85}"/>
              </a:ext>
            </a:extLst>
          </p:cNvPr>
          <p:cNvPicPr>
            <a:picLocks noGrp="1" noChangeAspect="1" noChangeArrowheads="1"/>
          </p:cNvPicPr>
          <p:nvPr>
            <p:ph idx="1"/>
          </p:nvPr>
        </p:nvPicPr>
        <p:blipFill>
          <a:blip r:embed="rId11">
            <a:extLst>
              <a:ext uri="{28A0092B-C50C-407E-A947-70E740481C1C}">
                <a14:useLocalDpi xmlns:a14="http://schemas.microsoft.com/office/drawing/2010/main" val="0"/>
              </a:ext>
            </a:extLst>
          </a:blip>
          <a:srcRect/>
          <a:stretch>
            <a:fillRect/>
          </a:stretch>
        </p:blipFill>
        <p:spPr bwMode="auto">
          <a:xfrm>
            <a:off x="9956369" y="-31225"/>
            <a:ext cx="1645081" cy="1645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184447"/>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theme/theme1.xml><?xml version="1.0" encoding="utf-8"?>
<a:theme xmlns:a="http://schemas.openxmlformats.org/drawingml/2006/main" name="Sector">
  <a:themeElements>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222</TotalTime>
  <Words>408</Words>
  <Application>Microsoft Office PowerPoint</Application>
  <PresentationFormat>Panorámica</PresentationFormat>
  <Paragraphs>93</Paragraphs>
  <Slides>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Arial</vt:lpstr>
      <vt:lpstr>Arial Rounded MT Bold</vt:lpstr>
      <vt:lpstr>Calibri</vt:lpstr>
      <vt:lpstr>Century Gothic</vt:lpstr>
      <vt:lpstr>Google Sans</vt:lpstr>
      <vt:lpstr>Wingdings 3</vt:lpstr>
      <vt:lpstr>Sector</vt:lpstr>
      <vt:lpstr>Componentes de un computador</vt:lpstr>
      <vt:lpstr>Memoria ram</vt:lpstr>
      <vt:lpstr>Procesador (CPU)</vt:lpstr>
      <vt:lpstr>Tarjeta madre</vt:lpstr>
      <vt:lpstr>Dispositivos de almacenamiento</vt:lpstr>
      <vt:lpstr>Placa de video</vt:lpstr>
      <vt:lpstr>Fuente de poder</vt:lpstr>
      <vt:lpstr>Ejemplo diagnostico (tabla)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Componentes de un computador</dc:title>
  <dc:creator>Yesid Martinez</dc:creator>
  <cp:lastModifiedBy>Yesid Martinez</cp:lastModifiedBy>
  <cp:revision>9</cp:revision>
  <dcterms:created xsi:type="dcterms:W3CDTF">2025-02-23T23:46:33Z</dcterms:created>
  <dcterms:modified xsi:type="dcterms:W3CDTF">2025-02-24T03:28:46Z</dcterms:modified>
</cp:coreProperties>
</file>